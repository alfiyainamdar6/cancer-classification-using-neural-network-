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7607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CANCER</a:t>
            </a:r>
            <a:br/>
            <a: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10881"/>
            <a:ext cx="5303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BEE1E1"/>
                </a:solidFill>
              </a:defRPr>
            </a:pPr>
            <a:r>
              <a:rPr lang="en-US" dirty="0" smtClean="0"/>
              <a:t>Neural Network </a:t>
            </a:r>
            <a:r>
              <a:rPr dirty="0" smtClean="0"/>
              <a:t>based </a:t>
            </a:r>
            <a:r>
              <a:rPr dirty="0"/>
              <a:t>breast </a:t>
            </a:r>
            <a:r>
              <a:rPr lang="en-US" dirty="0" smtClean="0"/>
              <a:t>Cancer </a:t>
            </a:r>
            <a:r>
              <a:rPr dirty="0" smtClean="0"/>
              <a:t>classification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58952" y="4325389"/>
            <a:ext cx="114300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437083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4076" y="4324835"/>
            <a:ext cx="1874519" cy="347472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433785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7" y="4337858"/>
            <a:ext cx="1554480" cy="347472"/>
          </a:xfrm>
          <a:prstGeom prst="round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29763" y="4359015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SCIENCE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914400"/>
            <a:ext cx="4023360" cy="4023360"/>
          </a:xfrm>
          <a:prstGeom prst="ellipse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1508760"/>
            <a:ext cx="2834640" cy="2834640"/>
          </a:xfrm>
          <a:prstGeom prst="ellipse">
            <a:avLst/>
          </a:prstGeom>
          <a:solidFill>
            <a:srgbClr val="2D4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66760" y="2240280"/>
            <a:ext cx="1371600" cy="1371600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06640" y="1737360"/>
            <a:ext cx="347472" cy="34747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12680" y="1508760"/>
            <a:ext cx="292608" cy="29260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06640" y="3794760"/>
            <a:ext cx="274320" cy="27432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29800" y="3840480"/>
            <a:ext cx="384048" cy="38404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87000" y="2743200"/>
            <a:ext cx="228600" cy="228600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7589520" y="1920240"/>
            <a:ext cx="868680" cy="914400"/>
          </a:xfrm>
          <a:prstGeom prst="line">
            <a:avLst/>
          </a:prstGeom>
          <a:ln w="25400">
            <a:solidFill>
              <a:srgbClr val="64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458200" y="1645920"/>
            <a:ext cx="1691640" cy="1188720"/>
          </a:xfrm>
          <a:prstGeom prst="line">
            <a:avLst/>
          </a:prstGeom>
          <a:ln w="25400">
            <a:solidFill>
              <a:srgbClr val="64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58200" y="2834640"/>
            <a:ext cx="1600200" cy="1142999"/>
          </a:xfrm>
          <a:prstGeom prst="line">
            <a:avLst/>
          </a:prstGeom>
          <a:ln w="25400">
            <a:solidFill>
              <a:srgbClr val="64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543800" y="2834640"/>
            <a:ext cx="914400" cy="1097280"/>
          </a:xfrm>
          <a:prstGeom prst="line">
            <a:avLst/>
          </a:prstGeom>
          <a:ln w="25400">
            <a:solidFill>
              <a:srgbClr val="64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058400" y="2834640"/>
            <a:ext cx="320040" cy="1142999"/>
          </a:xfrm>
          <a:prstGeom prst="line">
            <a:avLst/>
          </a:prstGeom>
          <a:ln w="25400">
            <a:solidFill>
              <a:srgbClr val="64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Turning structured tumor measurements into a machine learning classification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91440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743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148840"/>
            <a:ext cx="960120" cy="292608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2148840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2741"/>
                </a:solidFill>
              </a:defRPr>
            </a:pPr>
            <a:r>
              <a:t>17.9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24912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Texture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724912"/>
            <a:ext cx="960120" cy="292608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272491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2741"/>
                </a:solidFill>
              </a:defRPr>
            </a:pPr>
            <a:r>
              <a:t>10.4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0098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3300984"/>
            <a:ext cx="960120" cy="292608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48840" y="330098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2741"/>
                </a:solidFill>
              </a:defRPr>
            </a:pPr>
            <a:r>
              <a:t>1001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Smoothness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3877056"/>
            <a:ext cx="960120" cy="292608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8840" y="3877056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2741"/>
                </a:solidFill>
              </a:defRPr>
            </a:pPr>
            <a:r>
              <a:t>0.118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5312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Concavity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453128"/>
            <a:ext cx="960120" cy="292608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4453128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2741"/>
                </a:solidFill>
              </a:defRPr>
            </a:pPr>
            <a:r>
              <a:t>0.30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29000" y="3566160"/>
            <a:ext cx="1143000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86200" y="3246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1417320"/>
            <a:ext cx="1234440" cy="347472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26464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ML MODEL</a:t>
            </a:r>
          </a:p>
        </p:txBody>
      </p:sp>
      <p:sp>
        <p:nvSpPr>
          <p:cNvPr id="29" name="Oval 28"/>
          <p:cNvSpPr/>
          <p:nvPr/>
        </p:nvSpPr>
        <p:spPr>
          <a:xfrm>
            <a:off x="4754880" y="2057400"/>
            <a:ext cx="2194560" cy="219456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2542032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4805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learns patterns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95160" y="3566160"/>
            <a:ext cx="1143000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52360" y="3246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417320"/>
            <a:ext cx="1005840" cy="347472"/>
          </a:xfrm>
          <a:prstGeom prst="round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142646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1874519"/>
            <a:ext cx="31546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641080" y="2423160"/>
            <a:ext cx="731520" cy="731520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248716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441448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2741"/>
                </a:solidFill>
              </a:defRPr>
            </a:pPr>
            <a:r>
              <a:t>Malignant</a:t>
            </a:r>
          </a:p>
        </p:txBody>
      </p:sp>
      <p:sp>
        <p:nvSpPr>
          <p:cNvPr id="40" name="Oval 39"/>
          <p:cNvSpPr/>
          <p:nvPr/>
        </p:nvSpPr>
        <p:spPr>
          <a:xfrm>
            <a:off x="8641080" y="3520440"/>
            <a:ext cx="731520" cy="731520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41080" y="358444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538728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2741"/>
                </a:solidFill>
              </a:defRPr>
            </a:pPr>
            <a:r>
              <a:t>Benign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46177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Goal: build and evaluate a binary classifier.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2.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Why classification helps structure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4160520" y="1417320"/>
            <a:ext cx="3840480" cy="3840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00600" y="2057400"/>
            <a:ext cx="2560320" cy="2560320"/>
          </a:xfrm>
          <a:prstGeom prst="ellipse">
            <a:avLst/>
          </a:prstGeom>
          <a:solidFill>
            <a:srgbClr val="FFFFFF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4920" y="274320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82741"/>
                </a:solidFill>
              </a:defRPr>
            </a:pPr>
            <a:r>
              <a:t>TUMOR</a:t>
            </a:r>
            <a:br/>
            <a:r>
              <a:t>SAMPLE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011680" y="2057400"/>
            <a:ext cx="2148840" cy="1280160"/>
          </a:xfrm>
          <a:prstGeom prst="line">
            <a:avLst/>
          </a:prstGeom>
          <a:ln w="3175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11680" y="3520440"/>
            <a:ext cx="2148840" cy="1051560"/>
          </a:xfrm>
          <a:prstGeom prst="line">
            <a:avLst/>
          </a:prstGeom>
          <a:ln w="3175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001000" y="2057400"/>
            <a:ext cx="2148840" cy="1280160"/>
          </a:xfrm>
          <a:prstGeom prst="line">
            <a:avLst/>
          </a:prstGeom>
          <a:ln w="3175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01000" y="3520440"/>
            <a:ext cx="2148840" cy="1051560"/>
          </a:xfrm>
          <a:prstGeom prst="line">
            <a:avLst/>
          </a:prstGeom>
          <a:ln w="3175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13716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1371600"/>
            <a:ext cx="73152" cy="1417320"/>
          </a:xfrm>
          <a:prstGeom prst="rect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155448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93392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Many numerical features</a:t>
            </a:r>
            <a:br/>
            <a:r>
              <a:t>must be analyzed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73152" cy="1417320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1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Consistent preprocessing</a:t>
            </a:r>
            <a:br/>
            <a:r>
              <a:t>and objective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716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73152" cy="1417320"/>
          </a:xfrm>
          <a:prstGeom prst="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155448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Class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993392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Malignant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977639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3977639"/>
            <a:ext cx="73152" cy="1417320"/>
          </a:xfrm>
          <a:prstGeom prst="rect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416052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Class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599431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Benign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Project goals presented as a visual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673352"/>
            <a:ext cx="594360" cy="5943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Explore the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59" y="1673352"/>
            <a:ext cx="594360" cy="59436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76479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Clean + scale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8200" y="1673352"/>
            <a:ext cx="594360" cy="59436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76479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Discover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Visualize useful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3913632"/>
            <a:ext cx="594360" cy="594360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Train classifiers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59" y="3913632"/>
            <a:ext cx="594360" cy="594360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400507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Measure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8200" y="3913632"/>
            <a:ext cx="594360" cy="594360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400507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Create GitHub-ready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4. Dataset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Breast Cancer Wisconsin Diagnostic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657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89691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645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182741"/>
                </a:solidFill>
              </a:defRPr>
            </a:pPr>
            <a:r>
              <a:t>569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6E5CAA"/>
                </a:solidFill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72968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numerical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EB6F8C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087368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37D"/>
                </a:solidFill>
              </a:defRPr>
            </a:pPr>
            <a:r>
              <a:t>target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92040"/>
            <a:ext cx="1325880" cy="347472"/>
          </a:xfrm>
          <a:prstGeom prst="round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901183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MALIGNANT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892040"/>
            <a:ext cx="1051560" cy="347472"/>
          </a:xfrm>
          <a:prstGeom prst="roundRect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3160" y="4901183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BENIGN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5087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82741"/>
                </a:solidFill>
              </a:defRPr>
            </a:pPr>
            <a:r>
              <a:t>EXAMPLE FEATURES</a:t>
            </a:r>
          </a:p>
        </p:txBody>
      </p:sp>
      <p:sp>
        <p:nvSpPr>
          <p:cNvPr id="20" name="Oval 19"/>
          <p:cNvSpPr/>
          <p:nvPr/>
        </p:nvSpPr>
        <p:spPr>
          <a:xfrm>
            <a:off x="4800600" y="2011680"/>
            <a:ext cx="1691640" cy="65836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16712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radius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2011680"/>
            <a:ext cx="1691640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216712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texture</a:t>
            </a:r>
          </a:p>
        </p:txBody>
      </p:sp>
      <p:sp>
        <p:nvSpPr>
          <p:cNvPr id="24" name="Oval 23"/>
          <p:cNvSpPr/>
          <p:nvPr/>
        </p:nvSpPr>
        <p:spPr>
          <a:xfrm>
            <a:off x="9281160" y="2011680"/>
            <a:ext cx="1691640" cy="65836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216712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perimeter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3063240"/>
            <a:ext cx="1691640" cy="658368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21868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3063240"/>
            <a:ext cx="1691640" cy="658368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321868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smoothness</a:t>
            </a:r>
          </a:p>
        </p:txBody>
      </p:sp>
      <p:sp>
        <p:nvSpPr>
          <p:cNvPr id="30" name="Oval 29"/>
          <p:cNvSpPr/>
          <p:nvPr/>
        </p:nvSpPr>
        <p:spPr>
          <a:xfrm>
            <a:off x="9281160" y="3063240"/>
            <a:ext cx="1691640" cy="65836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321868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compactness</a:t>
            </a:r>
          </a:p>
        </p:txBody>
      </p:sp>
      <p:sp>
        <p:nvSpPr>
          <p:cNvPr id="32" name="Oval 31"/>
          <p:cNvSpPr/>
          <p:nvPr/>
        </p:nvSpPr>
        <p:spPr>
          <a:xfrm>
            <a:off x="4800600" y="4114800"/>
            <a:ext cx="1691640" cy="65836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427024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concavity</a:t>
            </a:r>
          </a:p>
        </p:txBody>
      </p:sp>
      <p:sp>
        <p:nvSpPr>
          <p:cNvPr id="34" name="Oval 33"/>
          <p:cNvSpPr/>
          <p:nvPr/>
        </p:nvSpPr>
        <p:spPr>
          <a:xfrm>
            <a:off x="7040880" y="4114800"/>
            <a:ext cx="1691640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86600" y="427024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symmetry</a:t>
            </a:r>
          </a:p>
        </p:txBody>
      </p:sp>
      <p:sp>
        <p:nvSpPr>
          <p:cNvPr id="36" name="Oval 35"/>
          <p:cNvSpPr/>
          <p:nvPr/>
        </p:nvSpPr>
        <p:spPr>
          <a:xfrm>
            <a:off x="9281160" y="4114800"/>
            <a:ext cx="1691640" cy="65836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427024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fractal dimension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5349240"/>
            <a:ext cx="5852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2741"/>
                </a:solidFill>
              </a:defRPr>
            </a:pPr>
            <a:r>
              <a:t>Target: malignant vs benign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5742432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Dataset is suitable for supervised binary classification.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5. 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 simple, internship-ready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73352"/>
            <a:ext cx="658368" cy="65836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1965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Core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03320" y="1673352"/>
            <a:ext cx="658368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81965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Data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1673352"/>
            <a:ext cx="658368" cy="65836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81965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Numerical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81159" y="1673352"/>
            <a:ext cx="658368" cy="658368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181965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9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Matplotlib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399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3913632"/>
            <a:ext cx="658368" cy="658368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05993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Seaborn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EDA visuals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03320" y="3913632"/>
            <a:ext cx="658368" cy="65836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405993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Scikit-learn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ML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92240" y="3913632"/>
            <a:ext cx="658368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05993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79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Google Colab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Notebook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59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81159" y="3913632"/>
            <a:ext cx="658368" cy="658368"/>
          </a:xfrm>
          <a:prstGeom prst="ellipse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59" y="405993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399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399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Documentation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6. Methodology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End-to-end machine learning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57600" y="1783080"/>
            <a:ext cx="566928" cy="56692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Shape + stats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Missing +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3544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19" y="1783080"/>
            <a:ext cx="566928" cy="566928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19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Patterns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7240" y="4023359"/>
            <a:ext cx="566928" cy="566928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80 / 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7472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57600" y="4023359"/>
            <a:ext cx="566928" cy="56692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StandardScaler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932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5508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537960" y="4023359"/>
            <a:ext cx="566928" cy="56692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Train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Classifiers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6968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3544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418319" y="4023359"/>
            <a:ext cx="566928" cy="566928"/>
          </a:xfrm>
          <a:prstGeom prst="ellipse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18319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Evaluate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Metrics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384280" y="2304288"/>
            <a:ext cx="0" cy="1444751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2960" y="4526280"/>
            <a:ext cx="10424160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7. Data Preprocessing &amp;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Prepare reliable inputs and visually inspect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6751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2741"/>
                </a:solidFill>
              </a:defRPr>
            </a:pPr>
            <a:r>
              <a:t>EDA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Class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617720"/>
            <a:ext cx="914400" cy="822960"/>
          </a:xfrm>
          <a:prstGeom prst="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1720" y="3657600"/>
            <a:ext cx="914400" cy="1783080"/>
          </a:xfrm>
          <a:prstGeom prst="rect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50468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Malignant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504688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Benign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1488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Feature correlation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606040"/>
            <a:ext cx="457200" cy="457200"/>
          </a:xfrm>
          <a:prstGeom prst="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2606040"/>
            <a:ext cx="457200" cy="4572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01184" y="2606040"/>
            <a:ext cx="457200" cy="457200"/>
          </a:xfrm>
          <a:prstGeom prst="rect">
            <a:avLst/>
          </a:prstGeom>
          <a:solidFill>
            <a:srgbClr val="B4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31536" y="2606040"/>
            <a:ext cx="457200" cy="457200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0" y="3136392"/>
            <a:ext cx="457200" cy="4572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70832" y="3136392"/>
            <a:ext cx="457200" cy="457200"/>
          </a:xfrm>
          <a:prstGeom prst="rect">
            <a:avLst/>
          </a:prstGeom>
          <a:solidFill>
            <a:srgbClr val="B4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1184" y="3136392"/>
            <a:ext cx="457200" cy="457200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31536" y="3136392"/>
            <a:ext cx="457200" cy="457200"/>
          </a:xfrm>
          <a:prstGeom prst="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0" y="3666744"/>
            <a:ext cx="457200" cy="457200"/>
          </a:xfrm>
          <a:prstGeom prst="rect">
            <a:avLst/>
          </a:prstGeom>
          <a:solidFill>
            <a:srgbClr val="B4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3666744"/>
            <a:ext cx="457200" cy="457200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01184" y="3666744"/>
            <a:ext cx="457200" cy="457200"/>
          </a:xfrm>
          <a:prstGeom prst="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31536" y="3666744"/>
            <a:ext cx="457200" cy="4572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0" y="4197096"/>
            <a:ext cx="457200" cy="457200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70832" y="4197096"/>
            <a:ext cx="457200" cy="457200"/>
          </a:xfrm>
          <a:prstGeom prst="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01184" y="4197096"/>
            <a:ext cx="457200" cy="4572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31536" y="4197096"/>
            <a:ext cx="457200" cy="457200"/>
          </a:xfrm>
          <a:prstGeom prst="rect">
            <a:avLst/>
          </a:prstGeom>
          <a:solidFill>
            <a:srgbClr val="B4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726679" y="1371600"/>
            <a:ext cx="3794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1627632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1  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1031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Missing values • data 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2971800"/>
            <a:ext cx="3794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01000" y="3227832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2 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703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80% train • 20% 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4572000"/>
            <a:ext cx="3794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4828032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3 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28523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StandardScaler</a:t>
            </a:r>
            <a:br/>
            <a:r>
              <a:t>fit on training data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8. 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Compare an interpretable baseline with an ensemble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91640"/>
            <a:ext cx="105156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2741"/>
                </a:solidFill>
              </a:defRPr>
            </a:pPr>
            <a:r>
              <a:t>Logistic Regression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4732074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27048" y="4659907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02536" y="4525795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78024" y="4308354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53512" y="4023360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9000" y="3738365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904487" y="3520924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79976" y="3386812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55464" y="3314645"/>
            <a:ext cx="164592" cy="16459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1005840" y="3429000"/>
            <a:ext cx="4297680" cy="146304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0120" y="525780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Strong, simple baseline</a:t>
            </a:r>
            <a:br/>
            <a:r>
              <a:t>Works well with scaled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37960" y="1691640"/>
            <a:ext cx="1051560" cy="347472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700784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4028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2741"/>
                </a:solidFill>
              </a:defRPr>
            </a:pPr>
            <a:r>
              <a:t>Random Forest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H="1">
            <a:off x="6903720" y="3566160"/>
            <a:ext cx="658368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62088" y="3566160"/>
            <a:ext cx="667512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720840" y="4206240"/>
            <a:ext cx="365760" cy="3657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38160" y="4206240"/>
            <a:ext cx="365760" cy="36576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32520" y="3063240"/>
            <a:ext cx="502920" cy="50292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H="1">
            <a:off x="8321040" y="3566160"/>
            <a:ext cx="658368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79408" y="3566160"/>
            <a:ext cx="667512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138160" y="4206240"/>
            <a:ext cx="365760" cy="3657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555480" y="4206240"/>
            <a:ext cx="365760" cy="36576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49840" y="3063240"/>
            <a:ext cx="502920" cy="50292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 flipH="1">
            <a:off x="9738360" y="3566160"/>
            <a:ext cx="658368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96728" y="3566160"/>
            <a:ext cx="667512" cy="640080"/>
          </a:xfrm>
          <a:prstGeom prst="line">
            <a:avLst/>
          </a:prstGeom>
          <a:ln w="254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555480" y="4206240"/>
            <a:ext cx="365760" cy="3657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972800" y="4206240"/>
            <a:ext cx="365760" cy="36576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525780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Ensemble of decision trees</a:t>
            </a:r>
            <a:br/>
            <a:r>
              <a:t>Captures non-linear patterns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9.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Use multiple metrics to judge the final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514600" cy="73152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741"/>
                </a:solidFill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37D"/>
                </a:solidFill>
              </a:defRPr>
            </a:pPr>
            <a:r>
              <a:t>Overall correct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6432" y="1417320"/>
            <a:ext cx="2514600" cy="7315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741"/>
                </a:solidFill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176272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37D"/>
                </a:solidFill>
              </a:defRPr>
            </a:pPr>
            <a:r>
              <a:t>Correct positive predictions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1417320"/>
            <a:ext cx="2514600" cy="73152"/>
          </a:xfrm>
          <a:prstGeom prst="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741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176272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37D"/>
                </a:solidFill>
              </a:defRPr>
            </a:pPr>
            <a:r>
              <a:t>Actual positives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89136" y="1417320"/>
            <a:ext cx="2514600" cy="73152"/>
          </a:xfrm>
          <a:prstGeom prst="rect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2015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741"/>
                </a:solidFill>
              </a:defRPr>
            </a:pPr>
            <a: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176272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37D"/>
                </a:solidFill>
              </a:defRPr>
            </a:pPr>
            <a:r>
              <a:t>Balance of precision +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37560"/>
            <a:ext cx="50292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58444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2741"/>
                </a:solidFill>
              </a:defRPr>
            </a:pPr>
            <a:r>
              <a:t>Confusion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4251960"/>
            <a:ext cx="1051560" cy="5943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441655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251960"/>
            <a:ext cx="1051560" cy="594360"/>
          </a:xfrm>
          <a:prstGeom prst="roundRect">
            <a:avLst/>
          </a:prstGeom>
          <a:solidFill>
            <a:srgbClr val="FF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441655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4983480"/>
            <a:ext cx="1051560" cy="594360"/>
          </a:xfrm>
          <a:prstGeom prst="roundRect">
            <a:avLst/>
          </a:prstGeom>
          <a:solidFill>
            <a:srgbClr val="E6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11680" y="514807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4983480"/>
            <a:ext cx="1051560" cy="594360"/>
          </a:xfrm>
          <a:prstGeom prst="roundRect">
            <a:avLst/>
          </a:prstGeom>
          <a:solidFill>
            <a:srgbClr val="DA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514807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6908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37D"/>
                </a:solidFill>
              </a:defRPr>
            </a:pPr>
            <a:r>
              <a:t>Actual ↓   Predicted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33756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358444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2741"/>
                </a:solidFill>
              </a:defRPr>
            </a:pPr>
            <a:r>
              <a:t>FINAL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20624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9691"/>
                </a:solidFill>
              </a:defRPr>
            </a:pPr>
            <a:r>
              <a:t>Add actual notebook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4723983"/>
            <a:ext cx="44805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rPr b="1" dirty="0">
                <a:solidFill>
                  <a:srgbClr val="FF0000"/>
                </a:solidFill>
                <a:latin typeface="+mj-lt"/>
              </a:rPr>
              <a:t>Accuracy: </a:t>
            </a:r>
            <a:r>
              <a:rPr lang="en-US" b="1" dirty="0" smtClean="0">
                <a:solidFill>
                  <a:srgbClr val="FF0000"/>
                </a:solidFill>
                <a:latin typeface="+mj-lt"/>
              </a:rPr>
              <a:t>97.5%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+mj-lt"/>
              </a:rPr>
              <a:t>    </a:t>
            </a:r>
            <a:r>
              <a:rPr b="1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b="1" dirty="0">
                <a:solidFill>
                  <a:srgbClr val="FF0000"/>
                </a:solidFill>
                <a:latin typeface="+mj-lt"/>
              </a:rPr>
              <a:t>•   Best model: </a:t>
            </a:r>
            <a:r>
              <a:rPr lang="en-US" b="1" dirty="0" smtClean="0">
                <a:solidFill>
                  <a:srgbClr val="FF0000"/>
                </a:solidFill>
                <a:latin typeface="+mj-lt"/>
              </a:rPr>
              <a:t>  Neural Network</a:t>
            </a:r>
            <a:endParaRPr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55080" y="5285232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B6F8C"/>
                </a:solidFill>
              </a:defRPr>
            </a:pPr>
            <a:r>
              <a:t>Do not invent values — use your executed model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5" name="Oval 4"/>
          <p:cNvSpPr/>
          <p:nvPr/>
        </p:nvSpPr>
        <p:spPr>
          <a:xfrm>
            <a:off x="4892040" y="1417320"/>
            <a:ext cx="2423160" cy="24231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92040" y="1828800"/>
            <a:ext cx="24231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→</a:t>
            </a:r>
            <a:br/>
            <a:r>
              <a:t>MODEL</a:t>
            </a:r>
            <a:br/>
            <a:r>
              <a:t>→</a:t>
            </a:r>
            <a:br/>
            <a:r>
              <a:t>INSIGHT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352044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E1E1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4320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Complete binary classification pipeline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Compare Logistic Regression and Random Forest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Evaluate with multiple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474720" cy="352044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10512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E1E1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29780"/>
            <a:ext cx="274320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Cross-validation + </a:t>
            </a:r>
            <a:r>
              <a:rPr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hyper</a:t>
            </a:r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parameter </a:t>
            </a: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tuning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Explainable AI techniques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Compare additional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1663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436</Words>
  <Application>Microsoft Office PowerPoint</Application>
  <PresentationFormat>Widescreen</PresentationFormat>
  <Paragraphs>196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Alfiya Inamdar</dc:creator>
  <cp:keywords/>
  <dc:description>generated using python-pptx</dc:description>
  <cp:lastModifiedBy>Alfiya Inamdar</cp:lastModifiedBy>
  <cp:revision>6</cp:revision>
  <dcterms:created xsi:type="dcterms:W3CDTF">2013-01-27T09:14:16Z</dcterms:created>
  <dcterms:modified xsi:type="dcterms:W3CDTF">2026-09-27T08:41:24Z</dcterms:modified>
  <cp:category/>
</cp:coreProperties>
</file>