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756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576072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CANCER</a:t>
            </a:r>
            <a:br/>
            <a:r>
              <a:t>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2594997"/>
            <a:ext cx="530352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0">
                <a:solidFill>
                  <a:srgbClr val="BEE1E1"/>
                </a:solidFill>
              </a:defRPr>
            </a:pPr>
            <a:r>
              <a:rPr dirty="0"/>
              <a:t>Machine Learning based breast </a:t>
            </a:r>
            <a:r>
              <a:rPr lang="en-US" dirty="0" smtClean="0"/>
              <a:t>Cancer </a:t>
            </a:r>
            <a:r>
              <a:rPr dirty="0" smtClean="0"/>
              <a:t>classification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758952" y="3520440"/>
            <a:ext cx="1143000" cy="347472"/>
          </a:xfrm>
          <a:prstGeom prst="round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3529584"/>
            <a:ext cx="11430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PYTHON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3520440"/>
            <a:ext cx="1874519" cy="347472"/>
          </a:xfrm>
          <a:prstGeom prst="round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1680" y="3529584"/>
            <a:ext cx="187451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MACHINE 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41648" y="3520440"/>
            <a:ext cx="1554480" cy="347472"/>
          </a:xfrm>
          <a:prstGeom prst="roundRect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41648" y="3529584"/>
            <a:ext cx="1554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DATA SCIENCE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0" y="914400"/>
            <a:ext cx="4023360" cy="4023360"/>
          </a:xfrm>
          <a:prstGeom prst="ellipse">
            <a:avLst/>
          </a:prstGeom>
          <a:solidFill>
            <a:srgbClr val="223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635240" y="1508760"/>
            <a:ext cx="2834640" cy="2834640"/>
          </a:xfrm>
          <a:prstGeom prst="ellipse">
            <a:avLst/>
          </a:prstGeom>
          <a:solidFill>
            <a:srgbClr val="2D4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66760" y="2240280"/>
            <a:ext cx="1371600" cy="1371600"/>
          </a:xfrm>
          <a:prstGeom prst="ellipse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406640" y="1737360"/>
            <a:ext cx="347472" cy="34747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012680" y="1508760"/>
            <a:ext cx="292608" cy="292608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406640" y="3794760"/>
            <a:ext cx="274320" cy="274320"/>
          </a:xfrm>
          <a:prstGeom prst="ellipse">
            <a:avLst/>
          </a:prstGeom>
          <a:solidFill>
            <a:srgbClr val="F5A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829800" y="3840480"/>
            <a:ext cx="384048" cy="384048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287000" y="2743200"/>
            <a:ext cx="228600" cy="228600"/>
          </a:xfrm>
          <a:prstGeom prst="ellipse">
            <a:avLst/>
          </a:prstGeom>
          <a:solidFill>
            <a:srgbClr val="46A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>
            <a:off x="7589520" y="1920240"/>
            <a:ext cx="868680" cy="914400"/>
          </a:xfrm>
          <a:prstGeom prst="line">
            <a:avLst/>
          </a:prstGeom>
          <a:ln w="25400">
            <a:solidFill>
              <a:srgbClr val="64BE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458200" y="1645920"/>
            <a:ext cx="1691640" cy="1188720"/>
          </a:xfrm>
          <a:prstGeom prst="line">
            <a:avLst/>
          </a:prstGeom>
          <a:ln w="25400">
            <a:solidFill>
              <a:srgbClr val="64BE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458200" y="2834640"/>
            <a:ext cx="1600200" cy="1142999"/>
          </a:xfrm>
          <a:prstGeom prst="line">
            <a:avLst/>
          </a:prstGeom>
          <a:ln w="25400">
            <a:solidFill>
              <a:srgbClr val="64BE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543800" y="2834640"/>
            <a:ext cx="914400" cy="1097280"/>
          </a:xfrm>
          <a:prstGeom prst="line">
            <a:avLst/>
          </a:prstGeom>
          <a:ln w="25400">
            <a:solidFill>
              <a:srgbClr val="64BE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0058400" y="2834640"/>
            <a:ext cx="320040" cy="1142999"/>
          </a:xfrm>
          <a:prstGeom prst="line">
            <a:avLst/>
          </a:prstGeom>
          <a:ln w="25400">
            <a:solidFill>
              <a:srgbClr val="64BE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58952" y="6053328"/>
            <a:ext cx="749807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0">
                <a:solidFill>
                  <a:srgbClr val="AFBECD"/>
                </a:solidFill>
              </a:defRPr>
            </a:pPr>
            <a:r>
              <a:t>Educational project — not a medical diagnosis system.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79552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82741"/>
                </a:solidFill>
              </a:defRPr>
            </a:pPr>
            <a:r>
              <a:t>1.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41248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Turning structured tumor measurements into a machine learning classification 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28232"/>
            <a:ext cx="548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69737D"/>
                </a:solidFill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914400" cy="347472"/>
          </a:xfrm>
          <a:prstGeom prst="round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26464"/>
            <a:ext cx="9144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INPUT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74519"/>
            <a:ext cx="27432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148840"/>
            <a:ext cx="1234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69737D"/>
                </a:solidFill>
              </a:defRPr>
            </a:pPr>
            <a:r>
              <a:t>Radius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2148840"/>
            <a:ext cx="960120" cy="292608"/>
          </a:xfrm>
          <a:prstGeom prst="roundRect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48840" y="2148840"/>
            <a:ext cx="960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182741"/>
                </a:solidFill>
              </a:defRPr>
            </a:pPr>
            <a:r>
              <a:t>17.9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724912"/>
            <a:ext cx="1234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69737D"/>
                </a:solidFill>
              </a:defRPr>
            </a:pPr>
            <a:r>
              <a:t>Texture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2724912"/>
            <a:ext cx="960120" cy="292608"/>
          </a:xfrm>
          <a:prstGeom prst="roundRect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148840" y="2724912"/>
            <a:ext cx="960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182741"/>
                </a:solidFill>
              </a:defRPr>
            </a:pPr>
            <a:r>
              <a:t>10.4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300984"/>
            <a:ext cx="1234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69737D"/>
                </a:solidFill>
              </a:defRPr>
            </a:pPr>
            <a:r>
              <a:t>Area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48840" y="3300984"/>
            <a:ext cx="960120" cy="292608"/>
          </a:xfrm>
          <a:prstGeom prst="roundRect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148840" y="3300984"/>
            <a:ext cx="960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182741"/>
                </a:solidFill>
              </a:defRPr>
            </a:pPr>
            <a:r>
              <a:t>1001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877056"/>
            <a:ext cx="1234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69737D"/>
                </a:solidFill>
              </a:defRPr>
            </a:pPr>
            <a:r>
              <a:t>Smoothness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48840" y="3877056"/>
            <a:ext cx="960120" cy="292608"/>
          </a:xfrm>
          <a:prstGeom prst="roundRect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148840" y="3877056"/>
            <a:ext cx="960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182741"/>
                </a:solidFill>
              </a:defRPr>
            </a:pPr>
            <a:r>
              <a:t>0.118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453128"/>
            <a:ext cx="1234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69737D"/>
                </a:solidFill>
              </a:defRPr>
            </a:pPr>
            <a:r>
              <a:t>Concavity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48840" y="4453128"/>
            <a:ext cx="960120" cy="292608"/>
          </a:xfrm>
          <a:prstGeom prst="roundRect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148840" y="4453128"/>
            <a:ext cx="960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182741"/>
                </a:solidFill>
              </a:defRPr>
            </a:pPr>
            <a:r>
              <a:t>0.30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429000" y="3566160"/>
            <a:ext cx="1143000" cy="0"/>
          </a:xfrm>
          <a:prstGeom prst="line">
            <a:avLst/>
          </a:prstGeom>
          <a:ln w="381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886200" y="324612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600" b="1">
                <a:solidFill>
                  <a:srgbClr val="189691"/>
                </a:solidFill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09160" y="1417320"/>
            <a:ext cx="1234440" cy="347472"/>
          </a:xfrm>
          <a:prstGeom prst="round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09160" y="1426464"/>
            <a:ext cx="12344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ML MODEL</a:t>
            </a:r>
          </a:p>
        </p:txBody>
      </p:sp>
      <p:sp>
        <p:nvSpPr>
          <p:cNvPr id="29" name="Oval 28"/>
          <p:cNvSpPr/>
          <p:nvPr/>
        </p:nvSpPr>
        <p:spPr>
          <a:xfrm>
            <a:off x="4754880" y="2057400"/>
            <a:ext cx="2194560" cy="2194560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54880" y="2542032"/>
            <a:ext cx="21945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4480560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69737D"/>
                </a:solidFill>
              </a:defRPr>
            </a:pPr>
            <a:r>
              <a:t>learns patterns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995160" y="3566160"/>
            <a:ext cx="1143000" cy="0"/>
          </a:xfrm>
          <a:prstGeom prst="line">
            <a:avLst/>
          </a:prstGeom>
          <a:ln w="381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452360" y="324612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600" b="1">
                <a:solidFill>
                  <a:srgbClr val="189691"/>
                </a:solidFill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75320" y="1417320"/>
            <a:ext cx="1005840" cy="347472"/>
          </a:xfrm>
          <a:prstGeom prst="roundRect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75320" y="1426464"/>
            <a:ext cx="1005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OUTPUT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1874519"/>
            <a:ext cx="315468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641080" y="2423160"/>
            <a:ext cx="731520" cy="731520"/>
          </a:xfrm>
          <a:prstGeom prst="ellipse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641080" y="2487168"/>
            <a:ext cx="731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55480" y="2441448"/>
            <a:ext cx="1417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182741"/>
                </a:solidFill>
              </a:defRPr>
            </a:pPr>
            <a:r>
              <a:t>Malignant</a:t>
            </a:r>
          </a:p>
        </p:txBody>
      </p:sp>
      <p:sp>
        <p:nvSpPr>
          <p:cNvPr id="40" name="Oval 39"/>
          <p:cNvSpPr/>
          <p:nvPr/>
        </p:nvSpPr>
        <p:spPr>
          <a:xfrm>
            <a:off x="8641080" y="3520440"/>
            <a:ext cx="731520" cy="731520"/>
          </a:xfrm>
          <a:prstGeom prst="ellipse">
            <a:avLst/>
          </a:prstGeom>
          <a:solidFill>
            <a:srgbClr val="46A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41080" y="3584448"/>
            <a:ext cx="731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55480" y="3538728"/>
            <a:ext cx="1417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182741"/>
                </a:solidFill>
              </a:defRPr>
            </a:pPr>
            <a:r>
              <a:t>Benign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79" y="4617720"/>
            <a:ext cx="2834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69737D"/>
                </a:solidFill>
              </a:defRPr>
            </a:pPr>
            <a:r>
              <a:t>Goal: build and evaluate a binary classifier.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79552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82741"/>
                </a:solidFill>
              </a:defRPr>
            </a:pPr>
            <a:r>
              <a:t>2.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41248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Why classification helps structure the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28232"/>
            <a:ext cx="548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69737D"/>
                </a:solidFill>
              </a:defRPr>
            </a:pPr>
            <a:r>
              <a:t>03</a:t>
            </a:r>
          </a:p>
        </p:txBody>
      </p:sp>
      <p:sp>
        <p:nvSpPr>
          <p:cNvPr id="7" name="Oval 6"/>
          <p:cNvSpPr/>
          <p:nvPr/>
        </p:nvSpPr>
        <p:spPr>
          <a:xfrm>
            <a:off x="4160520" y="1417320"/>
            <a:ext cx="3840480" cy="3840480"/>
          </a:xfrm>
          <a:prstGeom prst="ellipse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800600" y="2057400"/>
            <a:ext cx="2560320" cy="2560320"/>
          </a:xfrm>
          <a:prstGeom prst="ellipse">
            <a:avLst/>
          </a:prstGeom>
          <a:solidFill>
            <a:srgbClr val="FFFFFF"/>
          </a:solidFill>
          <a:ln>
            <a:solidFill>
              <a:srgbClr val="18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74920" y="274320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182741"/>
                </a:solidFill>
              </a:defRPr>
            </a:pPr>
            <a:r>
              <a:t>TUMOR</a:t>
            </a:r>
            <a:br/>
            <a:r>
              <a:t>SAMPLE</a:t>
            </a:r>
          </a:p>
        </p:txBody>
      </p:sp>
      <p:cxnSp>
        <p:nvCxnSpPr>
          <p:cNvPr id="10" name="Connector 9"/>
          <p:cNvCxnSpPr/>
          <p:nvPr/>
        </p:nvCxnSpPr>
        <p:spPr>
          <a:xfrm flipH="1" flipV="1">
            <a:off x="2011680" y="2057400"/>
            <a:ext cx="2148840" cy="1280160"/>
          </a:xfrm>
          <a:prstGeom prst="line">
            <a:avLst/>
          </a:prstGeom>
          <a:ln w="3175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2011680" y="3520440"/>
            <a:ext cx="2148840" cy="1051560"/>
          </a:xfrm>
          <a:prstGeom prst="line">
            <a:avLst/>
          </a:prstGeom>
          <a:ln w="3175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001000" y="2057400"/>
            <a:ext cx="2148840" cy="1280160"/>
          </a:xfrm>
          <a:prstGeom prst="line">
            <a:avLst/>
          </a:prstGeom>
          <a:ln w="3175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01000" y="3520440"/>
            <a:ext cx="2148840" cy="1051560"/>
          </a:xfrm>
          <a:prstGeom prst="line">
            <a:avLst/>
          </a:prstGeom>
          <a:ln w="3175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1371600"/>
            <a:ext cx="2331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1371600"/>
            <a:ext cx="73152" cy="1417320"/>
          </a:xfrm>
          <a:prstGeom prst="rect">
            <a:avLst/>
          </a:prstGeom>
          <a:solidFill>
            <a:srgbClr val="F5A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1554480"/>
            <a:ext cx="1874519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Challenge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1993392"/>
            <a:ext cx="187451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2D3741"/>
                </a:solidFill>
              </a:defRPr>
            </a:pPr>
            <a:r>
              <a:t>Many numerical features</a:t>
            </a:r>
            <a:br/>
            <a:r>
              <a:t>must be analyzed together.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77639"/>
            <a:ext cx="2331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3977639"/>
            <a:ext cx="73152" cy="1417320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4160520"/>
            <a:ext cx="1874519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Need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599431"/>
            <a:ext cx="187451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2D3741"/>
                </a:solidFill>
              </a:defRPr>
            </a:pPr>
            <a:r>
              <a:t>Consistent preprocessing</a:t>
            </a:r>
            <a:br/>
            <a:r>
              <a:t>and objective evaluation.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371600"/>
            <a:ext cx="2331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44000" y="1371600"/>
            <a:ext cx="73152" cy="1417320"/>
          </a:xfrm>
          <a:prstGeom prst="rect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72600" y="1554480"/>
            <a:ext cx="1874519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Class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1993392"/>
            <a:ext cx="187451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2D3741"/>
                </a:solidFill>
              </a:defRPr>
            </a:pPr>
            <a:r>
              <a:t>Malignant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3977639"/>
            <a:ext cx="23317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144000" y="3977639"/>
            <a:ext cx="73152" cy="1417320"/>
          </a:xfrm>
          <a:prstGeom prst="rect">
            <a:avLst/>
          </a:prstGeom>
          <a:solidFill>
            <a:srgbClr val="46A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72600" y="4160520"/>
            <a:ext cx="1874519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Class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599431"/>
            <a:ext cx="187451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2D3741"/>
                </a:solidFill>
              </a:defRPr>
            </a:pPr>
            <a:r>
              <a:t>Benign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79552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82741"/>
                </a:solidFill>
              </a:defRPr>
            </a:pPr>
            <a:r>
              <a:t>3.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41248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Project goals presented as a visual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28232"/>
            <a:ext cx="548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69737D"/>
                </a:solidFill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3756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60120" y="1673352"/>
            <a:ext cx="594360" cy="594360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764792"/>
            <a:ext cx="594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9072" y="164592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700" b="1">
                <a:solidFill>
                  <a:srgbClr val="182741"/>
                </a:solidFill>
              </a:defRPr>
            </a:pPr>
            <a: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9072" y="216712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Explore the dataset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417320"/>
            <a:ext cx="333756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709159" y="1673352"/>
            <a:ext cx="594360" cy="594360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09159" y="1764792"/>
            <a:ext cx="594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164592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700" b="1">
                <a:solidFill>
                  <a:srgbClr val="182741"/>
                </a:solidFill>
              </a:defRPr>
            </a:pPr>
            <a:r>
              <a:t>Prepare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68112" y="216712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Clean + scale features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417320"/>
            <a:ext cx="333756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458200" y="1673352"/>
            <a:ext cx="594360" cy="594360"/>
          </a:xfrm>
          <a:prstGeom prst="ellipse">
            <a:avLst/>
          </a:prstGeom>
          <a:solidFill>
            <a:srgbClr val="F5A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58200" y="1764792"/>
            <a:ext cx="594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164592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700" b="1">
                <a:solidFill>
                  <a:srgbClr val="182741"/>
                </a:solidFill>
              </a:defRPr>
            </a:pPr>
            <a:r>
              <a:t>Discover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7152" y="216712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Visualize useful patterns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657600"/>
            <a:ext cx="333756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60120" y="3913632"/>
            <a:ext cx="594360" cy="594360"/>
          </a:xfrm>
          <a:prstGeom prst="ellipse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4005072"/>
            <a:ext cx="594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19072" y="38862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700" b="1">
                <a:solidFill>
                  <a:srgbClr val="182741"/>
                </a:solidFill>
              </a:defRPr>
            </a:pPr>
            <a:r>
              <a:t>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19072" y="440740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Train classifiers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59" y="3657600"/>
            <a:ext cx="333756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709159" y="3913632"/>
            <a:ext cx="594360" cy="594360"/>
          </a:xfrm>
          <a:prstGeom prst="ellipse">
            <a:avLst/>
          </a:prstGeom>
          <a:solidFill>
            <a:srgbClr val="46A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09159" y="4005072"/>
            <a:ext cx="594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8112" y="38862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700" b="1">
                <a:solidFill>
                  <a:srgbClr val="182741"/>
                </a:solidFill>
              </a:defRPr>
            </a:pPr>
            <a:r>
              <a:t>Evaluate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8112" y="440740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Measure performance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0" y="3657600"/>
            <a:ext cx="333756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8458200" y="3913632"/>
            <a:ext cx="594360" cy="594360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58200" y="4005072"/>
            <a:ext cx="594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17152" y="3886200"/>
            <a:ext cx="2011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700" b="1">
                <a:solidFill>
                  <a:srgbClr val="182741"/>
                </a:solidFill>
              </a:defRPr>
            </a:pPr>
            <a:r>
              <a:t>Document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7152" y="4407408"/>
            <a:ext cx="2011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Create GitHub-ready project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79552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82741"/>
                </a:solidFill>
              </a:defRPr>
            </a:pPr>
            <a:r>
              <a:t>4. Dataset &amp;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41248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Breast Cancer Wisconsin Diagnostic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28232"/>
            <a:ext cx="548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69737D"/>
                </a:solidFill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3657600" cy="48006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828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189691"/>
                </a:solidFill>
              </a:defRPr>
            </a:pPr>
            <a:r>
              <a:t>DATASET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200" b="1">
                <a:solidFill>
                  <a:srgbClr val="182741"/>
                </a:solidFill>
              </a:defRPr>
            </a:pPr>
            <a:r>
              <a:t>569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31720"/>
            <a:ext cx="12801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69737D"/>
                </a:solidFill>
              </a:defRPr>
            </a:pPr>
            <a:r>
              <a:t>samples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3800" b="1">
                <a:solidFill>
                  <a:srgbClr val="6E5CAA"/>
                </a:solidFill>
              </a:defRPr>
            </a:pPr>
            <a:r>
              <a:t>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3172968"/>
            <a:ext cx="1645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69737D"/>
                </a:solidFill>
              </a:defRPr>
            </a:pPr>
            <a:r>
              <a:t>numerical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86200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3800" b="1">
                <a:solidFill>
                  <a:srgbClr val="EB6F8C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087368"/>
            <a:ext cx="1645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69737D"/>
                </a:solidFill>
              </a:defRPr>
            </a:pPr>
            <a:r>
              <a:t>target classes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892040"/>
            <a:ext cx="1325880" cy="347472"/>
          </a:xfrm>
          <a:prstGeom prst="roundRect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901183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MALIGNANT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23160" y="4892040"/>
            <a:ext cx="1051560" cy="347472"/>
          </a:xfrm>
          <a:prstGeom prst="roundRect">
            <a:avLst/>
          </a:prstGeom>
          <a:solidFill>
            <a:srgbClr val="46A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423160" y="4901183"/>
            <a:ext cx="10515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BENIGN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1508760"/>
            <a:ext cx="2743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1">
                <a:solidFill>
                  <a:srgbClr val="182741"/>
                </a:solidFill>
              </a:defRPr>
            </a:pPr>
            <a:r>
              <a:t>EXAMPLE FEATURES</a:t>
            </a:r>
          </a:p>
        </p:txBody>
      </p:sp>
      <p:sp>
        <p:nvSpPr>
          <p:cNvPr id="20" name="Oval 19"/>
          <p:cNvSpPr/>
          <p:nvPr/>
        </p:nvSpPr>
        <p:spPr>
          <a:xfrm>
            <a:off x="4800600" y="2011680"/>
            <a:ext cx="1691640" cy="658368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46320" y="2167128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radius</a:t>
            </a:r>
          </a:p>
        </p:txBody>
      </p:sp>
      <p:sp>
        <p:nvSpPr>
          <p:cNvPr id="22" name="Oval 21"/>
          <p:cNvSpPr/>
          <p:nvPr/>
        </p:nvSpPr>
        <p:spPr>
          <a:xfrm>
            <a:off x="7040880" y="2011680"/>
            <a:ext cx="1691640" cy="658368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086600" y="2167128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texture</a:t>
            </a:r>
          </a:p>
        </p:txBody>
      </p:sp>
      <p:sp>
        <p:nvSpPr>
          <p:cNvPr id="24" name="Oval 23"/>
          <p:cNvSpPr/>
          <p:nvPr/>
        </p:nvSpPr>
        <p:spPr>
          <a:xfrm>
            <a:off x="9281160" y="2011680"/>
            <a:ext cx="1691640" cy="658368"/>
          </a:xfrm>
          <a:prstGeom prst="ellipse">
            <a:avLst/>
          </a:prstGeom>
          <a:solidFill>
            <a:srgbClr val="F5A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26880" y="2167128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perimeter</a:t>
            </a:r>
          </a:p>
        </p:txBody>
      </p:sp>
      <p:sp>
        <p:nvSpPr>
          <p:cNvPr id="26" name="Oval 25"/>
          <p:cNvSpPr/>
          <p:nvPr/>
        </p:nvSpPr>
        <p:spPr>
          <a:xfrm>
            <a:off x="4800600" y="3063240"/>
            <a:ext cx="1691640" cy="658368"/>
          </a:xfrm>
          <a:prstGeom prst="ellipse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0" y="3218688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area</a:t>
            </a:r>
          </a:p>
        </p:txBody>
      </p:sp>
      <p:sp>
        <p:nvSpPr>
          <p:cNvPr id="28" name="Oval 27"/>
          <p:cNvSpPr/>
          <p:nvPr/>
        </p:nvSpPr>
        <p:spPr>
          <a:xfrm>
            <a:off x="7040880" y="3063240"/>
            <a:ext cx="1691640" cy="658368"/>
          </a:xfrm>
          <a:prstGeom prst="ellipse">
            <a:avLst/>
          </a:prstGeom>
          <a:solidFill>
            <a:srgbClr val="46A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086600" y="3218688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smoothness</a:t>
            </a:r>
          </a:p>
        </p:txBody>
      </p:sp>
      <p:sp>
        <p:nvSpPr>
          <p:cNvPr id="30" name="Oval 29"/>
          <p:cNvSpPr/>
          <p:nvPr/>
        </p:nvSpPr>
        <p:spPr>
          <a:xfrm>
            <a:off x="9281160" y="3063240"/>
            <a:ext cx="1691640" cy="658368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326880" y="3218688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compactness</a:t>
            </a:r>
          </a:p>
        </p:txBody>
      </p:sp>
      <p:sp>
        <p:nvSpPr>
          <p:cNvPr id="32" name="Oval 31"/>
          <p:cNvSpPr/>
          <p:nvPr/>
        </p:nvSpPr>
        <p:spPr>
          <a:xfrm>
            <a:off x="4800600" y="4114800"/>
            <a:ext cx="1691640" cy="658368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846320" y="4270248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concavity</a:t>
            </a:r>
          </a:p>
        </p:txBody>
      </p:sp>
      <p:sp>
        <p:nvSpPr>
          <p:cNvPr id="34" name="Oval 33"/>
          <p:cNvSpPr/>
          <p:nvPr/>
        </p:nvSpPr>
        <p:spPr>
          <a:xfrm>
            <a:off x="7040880" y="4114800"/>
            <a:ext cx="1691640" cy="658368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086600" y="4270248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symmetry</a:t>
            </a:r>
          </a:p>
        </p:txBody>
      </p:sp>
      <p:sp>
        <p:nvSpPr>
          <p:cNvPr id="36" name="Oval 35"/>
          <p:cNvSpPr/>
          <p:nvPr/>
        </p:nvSpPr>
        <p:spPr>
          <a:xfrm>
            <a:off x="9281160" y="4114800"/>
            <a:ext cx="1691640" cy="658368"/>
          </a:xfrm>
          <a:prstGeom prst="ellipse">
            <a:avLst/>
          </a:prstGeom>
          <a:solidFill>
            <a:srgbClr val="F5A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26880" y="4270248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fractal dimension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00600" y="5349240"/>
            <a:ext cx="5852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182741"/>
                </a:solidFill>
              </a:defRPr>
            </a:pPr>
            <a:r>
              <a:t>Target: malignant vs benign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5742432"/>
            <a:ext cx="58521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Dataset is suitable for supervised binary classification.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79552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82741"/>
                </a:solidFill>
              </a:defRPr>
            </a:pPr>
            <a:r>
              <a:t>5. Technologies &amp;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41248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A simple, internship-ready 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28232"/>
            <a:ext cx="548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69737D"/>
                </a:solidFill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46888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" y="1673352"/>
            <a:ext cx="658368" cy="658368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819656"/>
            <a:ext cx="658368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45920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167128"/>
            <a:ext cx="1234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Core programming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417320"/>
            <a:ext cx="246888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703320" y="1673352"/>
            <a:ext cx="658368" cy="658368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1819656"/>
            <a:ext cx="658368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645920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Pandas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167128"/>
            <a:ext cx="1234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Data handling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246888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492240" y="1673352"/>
            <a:ext cx="658368" cy="658368"/>
          </a:xfrm>
          <a:prstGeom prst="ellipse">
            <a:avLst/>
          </a:prstGeom>
          <a:solidFill>
            <a:srgbClr val="F5A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1819656"/>
            <a:ext cx="658368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NP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79" y="1645920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NumPy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79" y="2167128"/>
            <a:ext cx="1234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Numerical work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59" y="1417320"/>
            <a:ext cx="246888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281159" y="1673352"/>
            <a:ext cx="658368" cy="658368"/>
          </a:xfrm>
          <a:prstGeom prst="ellipse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81159" y="1819656"/>
            <a:ext cx="658368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399" y="1645920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Matplotlib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399" y="2167128"/>
            <a:ext cx="1234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Charts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657600"/>
            <a:ext cx="246888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14400" y="3913632"/>
            <a:ext cx="658368" cy="658368"/>
          </a:xfrm>
          <a:prstGeom prst="ellipse">
            <a:avLst/>
          </a:prstGeom>
          <a:solidFill>
            <a:srgbClr val="46A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059936"/>
            <a:ext cx="658368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3886200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Seaborn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4407408"/>
            <a:ext cx="1234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EDA visuals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74720" y="3657600"/>
            <a:ext cx="246888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3703320" y="3913632"/>
            <a:ext cx="658368" cy="658368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703320" y="4059936"/>
            <a:ext cx="658368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3886200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Scikit-learn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4407408"/>
            <a:ext cx="1234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ML models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3657600"/>
            <a:ext cx="246888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6492240" y="3913632"/>
            <a:ext cx="658368" cy="658368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92240" y="4059936"/>
            <a:ext cx="658368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479" y="3886200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Google Colab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79" y="4407408"/>
            <a:ext cx="1234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Notebook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2559" y="3657600"/>
            <a:ext cx="246888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9281159" y="3913632"/>
            <a:ext cx="658368" cy="658368"/>
          </a:xfrm>
          <a:prstGeom prst="ellipse">
            <a:avLst/>
          </a:prstGeom>
          <a:solidFill>
            <a:srgbClr val="18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281159" y="4059936"/>
            <a:ext cx="658368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GH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399" y="3886200"/>
            <a:ext cx="1234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GitHub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399" y="4407408"/>
            <a:ext cx="1234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Documentation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79552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82741"/>
                </a:solidFill>
              </a:defRPr>
            </a:pPr>
            <a:r>
              <a:t>6. Methodology /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41248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End-to-end machine learning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28232"/>
            <a:ext cx="548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69737D"/>
                </a:solidFill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08760"/>
            <a:ext cx="2514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892807"/>
            <a:ext cx="56692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709928"/>
            <a:ext cx="1325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221991"/>
            <a:ext cx="1325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Dataset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08960" y="2304288"/>
            <a:ext cx="338328" cy="0"/>
          </a:xfrm>
          <a:prstGeom prst="line">
            <a:avLst/>
          </a:prstGeom>
          <a:ln w="254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74720" y="1508760"/>
            <a:ext cx="2514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657600" y="1783080"/>
            <a:ext cx="566928" cy="566928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0" y="1892807"/>
            <a:ext cx="56692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709928"/>
            <a:ext cx="1325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Explore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221991"/>
            <a:ext cx="1325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Shape + stats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89320" y="2304288"/>
            <a:ext cx="338328" cy="0"/>
          </a:xfrm>
          <a:prstGeom prst="line">
            <a:avLst/>
          </a:prstGeom>
          <a:ln w="254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55080" y="1508760"/>
            <a:ext cx="2514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37960" y="1783080"/>
            <a:ext cx="566928" cy="566928"/>
          </a:xfrm>
          <a:prstGeom prst="ellipse">
            <a:avLst/>
          </a:prstGeom>
          <a:solidFill>
            <a:srgbClr val="F5A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60" y="1892807"/>
            <a:ext cx="56692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1709928"/>
            <a:ext cx="1325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Clean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221991"/>
            <a:ext cx="1325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Missing + types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869680" y="2304288"/>
            <a:ext cx="338328" cy="0"/>
          </a:xfrm>
          <a:prstGeom prst="line">
            <a:avLst/>
          </a:prstGeom>
          <a:ln w="254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235440" y="1508760"/>
            <a:ext cx="2514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418319" y="1783080"/>
            <a:ext cx="566928" cy="566928"/>
          </a:xfrm>
          <a:prstGeom prst="ellipse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18319" y="1892807"/>
            <a:ext cx="56692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1709928"/>
            <a:ext cx="1325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EDA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2221991"/>
            <a:ext cx="1325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Patterns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3749039"/>
            <a:ext cx="2514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777240" y="4023359"/>
            <a:ext cx="566928" cy="566928"/>
          </a:xfrm>
          <a:prstGeom prst="ellipse">
            <a:avLst/>
          </a:prstGeom>
          <a:solidFill>
            <a:srgbClr val="46A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4133087"/>
            <a:ext cx="56692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3950207"/>
            <a:ext cx="1325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Split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4462272"/>
            <a:ext cx="1325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80 / 20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108960" y="4544568"/>
            <a:ext cx="338328" cy="0"/>
          </a:xfrm>
          <a:prstGeom prst="line">
            <a:avLst/>
          </a:prstGeom>
          <a:ln w="254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474720" y="3749039"/>
            <a:ext cx="2514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657600" y="4023359"/>
            <a:ext cx="566928" cy="566928"/>
          </a:xfrm>
          <a:prstGeom prst="ellipse">
            <a:avLst/>
          </a:prstGeom>
          <a:solidFill>
            <a:srgbClr val="45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57600" y="4133087"/>
            <a:ext cx="56692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3950207"/>
            <a:ext cx="1325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Scale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4462272"/>
            <a:ext cx="1325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StandardScaler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989320" y="4544568"/>
            <a:ext cx="338328" cy="0"/>
          </a:xfrm>
          <a:prstGeom prst="line">
            <a:avLst/>
          </a:prstGeom>
          <a:ln w="254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355080" y="3749039"/>
            <a:ext cx="2514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6537960" y="4023359"/>
            <a:ext cx="566928" cy="566928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37960" y="4133087"/>
            <a:ext cx="56692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69480" y="3950207"/>
            <a:ext cx="1325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Train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69480" y="4462272"/>
            <a:ext cx="1325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Classifiers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869680" y="4544568"/>
            <a:ext cx="338328" cy="0"/>
          </a:xfrm>
          <a:prstGeom prst="line">
            <a:avLst/>
          </a:prstGeom>
          <a:ln w="254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235440" y="3749039"/>
            <a:ext cx="251460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9418319" y="4023359"/>
            <a:ext cx="566928" cy="566928"/>
          </a:xfrm>
          <a:prstGeom prst="ellipse">
            <a:avLst/>
          </a:prstGeom>
          <a:solidFill>
            <a:srgbClr val="18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418319" y="4133087"/>
            <a:ext cx="56692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3950207"/>
            <a:ext cx="1325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Evaluate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49840" y="4462272"/>
            <a:ext cx="1325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Metrics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1384280" y="2304288"/>
            <a:ext cx="0" cy="1444751"/>
          </a:xfrm>
          <a:prstGeom prst="line">
            <a:avLst/>
          </a:prstGeom>
          <a:ln w="254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22960" y="4526280"/>
            <a:ext cx="10424160" cy="0"/>
          </a:xfrm>
          <a:prstGeom prst="line">
            <a:avLst/>
          </a:prstGeom>
          <a:ln w="25400">
            <a:solidFill>
              <a:srgbClr val="1896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79552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82741"/>
                </a:solidFill>
              </a:defRPr>
            </a:pPr>
            <a:r>
              <a:t>7. Data Preprocessing &amp; 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41248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Prepare reliable inputs and visually inspect 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28232"/>
            <a:ext cx="548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69737D"/>
                </a:solidFill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6675120" cy="48006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828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1">
                <a:solidFill>
                  <a:srgbClr val="182741"/>
                </a:solidFill>
              </a:defRPr>
            </a:pPr>
            <a:r>
              <a:t>EDA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828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Class distribution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617720"/>
            <a:ext cx="914400" cy="822960"/>
          </a:xfrm>
          <a:prstGeom prst="rect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331720" y="3657600"/>
            <a:ext cx="914400" cy="1783080"/>
          </a:xfrm>
          <a:prstGeom prst="rect">
            <a:avLst/>
          </a:prstGeom>
          <a:solidFill>
            <a:srgbClr val="46A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504688"/>
            <a:ext cx="13716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9737D"/>
                </a:solidFill>
              </a:defRPr>
            </a:pPr>
            <a:r>
              <a:t>Malignant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5504688"/>
            <a:ext cx="13716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9737D"/>
                </a:solidFill>
              </a:defRPr>
            </a:pPr>
            <a:r>
              <a:t>Benign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148840"/>
            <a:ext cx="2286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Feature correlation concept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606040"/>
            <a:ext cx="457200" cy="457200"/>
          </a:xfrm>
          <a:prstGeom prst="rect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70832" y="2606040"/>
            <a:ext cx="457200" cy="457200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901184" y="2606040"/>
            <a:ext cx="457200" cy="457200"/>
          </a:xfrm>
          <a:prstGeom prst="rect">
            <a:avLst/>
          </a:prstGeom>
          <a:solidFill>
            <a:srgbClr val="B4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31536" y="2606040"/>
            <a:ext cx="457200" cy="457200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840480" y="3136392"/>
            <a:ext cx="457200" cy="457200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70832" y="3136392"/>
            <a:ext cx="457200" cy="457200"/>
          </a:xfrm>
          <a:prstGeom prst="rect">
            <a:avLst/>
          </a:prstGeom>
          <a:solidFill>
            <a:srgbClr val="B4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901184" y="3136392"/>
            <a:ext cx="457200" cy="457200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31536" y="3136392"/>
            <a:ext cx="457200" cy="457200"/>
          </a:xfrm>
          <a:prstGeom prst="rect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840480" y="3666744"/>
            <a:ext cx="457200" cy="457200"/>
          </a:xfrm>
          <a:prstGeom prst="rect">
            <a:avLst/>
          </a:prstGeom>
          <a:solidFill>
            <a:srgbClr val="B4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70832" y="3666744"/>
            <a:ext cx="457200" cy="457200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901184" y="3666744"/>
            <a:ext cx="457200" cy="457200"/>
          </a:xfrm>
          <a:prstGeom prst="rect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31536" y="3666744"/>
            <a:ext cx="457200" cy="457200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840480" y="4197096"/>
            <a:ext cx="457200" cy="457200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370832" y="4197096"/>
            <a:ext cx="457200" cy="457200"/>
          </a:xfrm>
          <a:prstGeom prst="rect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901184" y="4197096"/>
            <a:ext cx="457200" cy="457200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31536" y="4197096"/>
            <a:ext cx="457200" cy="457200"/>
          </a:xfrm>
          <a:prstGeom prst="rect">
            <a:avLst/>
          </a:prstGeom>
          <a:solidFill>
            <a:srgbClr val="B4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7726679" y="1371600"/>
            <a:ext cx="37947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01000" y="1627632"/>
            <a:ext cx="1554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1  Validate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2103120"/>
            <a:ext cx="29260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Missing values • data types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6679" y="2971800"/>
            <a:ext cx="37947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01000" y="3227832"/>
            <a:ext cx="1554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2  Split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703320"/>
            <a:ext cx="29260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80% train • 20% test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26679" y="4572000"/>
            <a:ext cx="37947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001000" y="4828032"/>
            <a:ext cx="1554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182741"/>
                </a:solidFill>
              </a:defRPr>
            </a:pPr>
            <a:r>
              <a:t>3  Scale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5285232"/>
            <a:ext cx="2926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StandardScaler</a:t>
            </a:r>
            <a:br/>
            <a:r>
              <a:t>fit on training data only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79552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82741"/>
                </a:solidFill>
              </a:defRPr>
            </a:pPr>
            <a:r>
              <a:t>8. Machine Learning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41248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Compare an interpretable baseline with an ensemble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28232"/>
            <a:ext cx="548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69737D"/>
                </a:solidFill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521208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60120" y="1691640"/>
            <a:ext cx="1051560" cy="347472"/>
          </a:xfrm>
          <a:prstGeom prst="round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700784"/>
            <a:ext cx="10515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MODEL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40280"/>
            <a:ext cx="4389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300" b="1">
                <a:solidFill>
                  <a:srgbClr val="182741"/>
                </a:solidFill>
              </a:defRPr>
            </a:pPr>
            <a:r>
              <a:t>Logistic Regression</a:t>
            </a:r>
          </a:p>
        </p:txBody>
      </p:sp>
      <p:sp>
        <p:nvSpPr>
          <p:cNvPr id="11" name="Oval 10"/>
          <p:cNvSpPr/>
          <p:nvPr/>
        </p:nvSpPr>
        <p:spPr>
          <a:xfrm>
            <a:off x="1051560" y="4732074"/>
            <a:ext cx="164592" cy="16459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527048" y="4659907"/>
            <a:ext cx="164592" cy="16459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002536" y="4525795"/>
            <a:ext cx="164592" cy="16459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2478024" y="4308354"/>
            <a:ext cx="164592" cy="16459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953512" y="4023360"/>
            <a:ext cx="164592" cy="16459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429000" y="3738365"/>
            <a:ext cx="164592" cy="16459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904487" y="3520924"/>
            <a:ext cx="164592" cy="16459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379976" y="3386812"/>
            <a:ext cx="164592" cy="16459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855464" y="3314645"/>
            <a:ext cx="164592" cy="164592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 flipV="1">
            <a:off x="1005840" y="3429000"/>
            <a:ext cx="4297680" cy="1463040"/>
          </a:xfrm>
          <a:prstGeom prst="line">
            <a:avLst/>
          </a:prstGeom>
          <a:ln w="15240">
            <a:solidFill>
              <a:srgbClr val="DA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60120" y="5257800"/>
            <a:ext cx="4297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Strong, simple baseline</a:t>
            </a:r>
            <a:br/>
            <a:r>
              <a:t>Works well with scaled features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417320"/>
            <a:ext cx="521208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537960" y="1691640"/>
            <a:ext cx="1051560" cy="347472"/>
          </a:xfrm>
          <a:prstGeom prst="round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60" y="1700784"/>
            <a:ext cx="10515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MODEL 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240280"/>
            <a:ext cx="4389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300" b="1">
                <a:solidFill>
                  <a:srgbClr val="182741"/>
                </a:solidFill>
              </a:defRPr>
            </a:pPr>
            <a:r>
              <a:t>Random Forest</a:t>
            </a:r>
          </a:p>
        </p:txBody>
      </p:sp>
      <p:sp>
        <p:nvSpPr>
          <p:cNvPr id="26" name="Oval 25"/>
          <p:cNvSpPr/>
          <p:nvPr/>
        </p:nvSpPr>
        <p:spPr>
          <a:xfrm>
            <a:off x="7315200" y="3063240"/>
            <a:ext cx="502920" cy="502920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" name="Connector 26"/>
          <p:cNvCxnSpPr/>
          <p:nvPr/>
        </p:nvCxnSpPr>
        <p:spPr>
          <a:xfrm flipH="1">
            <a:off x="6903720" y="3566160"/>
            <a:ext cx="658368" cy="640080"/>
          </a:xfrm>
          <a:prstGeom prst="line">
            <a:avLst/>
          </a:prstGeom>
          <a:ln w="25400">
            <a:solidFill>
              <a:srgbClr val="6E5C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562088" y="3566160"/>
            <a:ext cx="667512" cy="640080"/>
          </a:xfrm>
          <a:prstGeom prst="line">
            <a:avLst/>
          </a:prstGeom>
          <a:ln w="25400">
            <a:solidFill>
              <a:srgbClr val="6E5C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6720840" y="4206240"/>
            <a:ext cx="365760" cy="365760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138160" y="4206240"/>
            <a:ext cx="365760" cy="365760"/>
          </a:xfrm>
          <a:prstGeom prst="ellipse">
            <a:avLst/>
          </a:prstGeom>
          <a:solidFill>
            <a:srgbClr val="F5A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732520" y="3063240"/>
            <a:ext cx="502920" cy="502920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 flipH="1">
            <a:off x="8321040" y="3566160"/>
            <a:ext cx="658368" cy="640080"/>
          </a:xfrm>
          <a:prstGeom prst="line">
            <a:avLst/>
          </a:prstGeom>
          <a:ln w="25400">
            <a:solidFill>
              <a:srgbClr val="6E5C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979408" y="3566160"/>
            <a:ext cx="667512" cy="640080"/>
          </a:xfrm>
          <a:prstGeom prst="line">
            <a:avLst/>
          </a:prstGeom>
          <a:ln w="25400">
            <a:solidFill>
              <a:srgbClr val="6E5C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8138160" y="4206240"/>
            <a:ext cx="365760" cy="365760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9555480" y="4206240"/>
            <a:ext cx="365760" cy="365760"/>
          </a:xfrm>
          <a:prstGeom prst="ellipse">
            <a:avLst/>
          </a:prstGeom>
          <a:solidFill>
            <a:srgbClr val="F5A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0149840" y="3063240"/>
            <a:ext cx="502920" cy="502920"/>
          </a:xfrm>
          <a:prstGeom prst="ellipse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" name="Connector 36"/>
          <p:cNvCxnSpPr/>
          <p:nvPr/>
        </p:nvCxnSpPr>
        <p:spPr>
          <a:xfrm flipH="1">
            <a:off x="9738360" y="3566160"/>
            <a:ext cx="658368" cy="640080"/>
          </a:xfrm>
          <a:prstGeom prst="line">
            <a:avLst/>
          </a:prstGeom>
          <a:ln w="25400">
            <a:solidFill>
              <a:srgbClr val="6E5C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396728" y="3566160"/>
            <a:ext cx="667512" cy="640080"/>
          </a:xfrm>
          <a:prstGeom prst="line">
            <a:avLst/>
          </a:prstGeom>
          <a:ln w="25400">
            <a:solidFill>
              <a:srgbClr val="6E5C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9555480" y="4206240"/>
            <a:ext cx="365760" cy="365760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10972800" y="4206240"/>
            <a:ext cx="365760" cy="365760"/>
          </a:xfrm>
          <a:prstGeom prst="ellipse">
            <a:avLst/>
          </a:prstGeom>
          <a:solidFill>
            <a:srgbClr val="F5A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37960" y="5257800"/>
            <a:ext cx="4297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Ensemble of decision trees</a:t>
            </a:r>
            <a:br/>
            <a:r>
              <a:t>Captures non-linear patterns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79552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182741"/>
                </a:solidFill>
              </a:defRPr>
            </a:pPr>
            <a:r>
              <a:t>9. Results &amp;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41248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69737D"/>
                </a:solidFill>
              </a:defRPr>
            </a:pPr>
            <a:r>
              <a:t>Use multiple metrics to judge the final classifier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28232"/>
            <a:ext cx="5486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1000" b="1">
                <a:solidFill>
                  <a:srgbClr val="69737D"/>
                </a:solidFill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5146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514600" cy="73152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" y="1673352"/>
            <a:ext cx="21488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182741"/>
                </a:solidFill>
              </a:defRPr>
            </a:pPr>
            <a: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76272"/>
            <a:ext cx="2057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0">
                <a:solidFill>
                  <a:srgbClr val="69737D"/>
                </a:solidFill>
              </a:defRPr>
            </a:pPr>
            <a:r>
              <a:t>Overall correct predictions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1417320"/>
            <a:ext cx="25146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56432" y="1417320"/>
            <a:ext cx="2514600" cy="73152"/>
          </a:xfrm>
          <a:prstGeom prst="rect">
            <a:avLst/>
          </a:prstGeom>
          <a:solidFill>
            <a:srgbClr val="6E5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39312" y="1673352"/>
            <a:ext cx="21488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182741"/>
                </a:solidFill>
              </a:defRPr>
            </a:pPr>
            <a:r>
              <a:t>PRECISION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2176272"/>
            <a:ext cx="2057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0">
                <a:solidFill>
                  <a:srgbClr val="69737D"/>
                </a:solidFill>
              </a:defRPr>
            </a:pPr>
            <a:r>
              <a:t>Correct positive predictions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4" y="1417320"/>
            <a:ext cx="25146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72784" y="1417320"/>
            <a:ext cx="2514600" cy="73152"/>
          </a:xfrm>
          <a:prstGeom prst="rect">
            <a:avLst/>
          </a:prstGeom>
          <a:solidFill>
            <a:srgbClr val="EB6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55664" y="1673352"/>
            <a:ext cx="21488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182741"/>
                </a:solidFill>
              </a:defRPr>
            </a:pPr>
            <a:r>
              <a:t>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2176272"/>
            <a:ext cx="2057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0">
                <a:solidFill>
                  <a:srgbClr val="69737D"/>
                </a:solidFill>
              </a:defRPr>
            </a:pPr>
            <a:r>
              <a:t>Actual positives detected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1417320"/>
            <a:ext cx="251460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89136" y="1417320"/>
            <a:ext cx="2514600" cy="73152"/>
          </a:xfrm>
          <a:prstGeom prst="rect">
            <a:avLst/>
          </a:prstGeom>
          <a:solidFill>
            <a:srgbClr val="46A5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72015" y="1673352"/>
            <a:ext cx="21488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182741"/>
                </a:solidFill>
              </a:defRPr>
            </a:pPr>
            <a:r>
              <a:t>F1-SCORE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2176272"/>
            <a:ext cx="2057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0">
                <a:solidFill>
                  <a:srgbClr val="69737D"/>
                </a:solidFill>
              </a:defRPr>
            </a:pPr>
            <a:r>
              <a:t>Balance of precision + recall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337560"/>
            <a:ext cx="502920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3584448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182741"/>
                </a:solidFill>
              </a:defRPr>
            </a:pPr>
            <a:r>
              <a:t>Confusion Matrix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0" y="4251960"/>
            <a:ext cx="1051560" cy="594360"/>
          </a:xfrm>
          <a:prstGeom prst="roundRect">
            <a:avLst/>
          </a:prstGeom>
          <a:solidFill>
            <a:srgbClr val="E6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11680" y="4416552"/>
            <a:ext cx="10515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69737D"/>
                </a:solidFill>
              </a:defRPr>
            </a:pPr>
            <a:r>
              <a:t>VALUE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46120" y="4251960"/>
            <a:ext cx="1051560" cy="594360"/>
          </a:xfrm>
          <a:prstGeom prst="roundRect">
            <a:avLst/>
          </a:prstGeom>
          <a:solidFill>
            <a:srgbClr val="FF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46120" y="4416552"/>
            <a:ext cx="10515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69737D"/>
                </a:solidFill>
              </a:defRPr>
            </a:pPr>
            <a:r>
              <a:t>VALUE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11680" y="4983480"/>
            <a:ext cx="1051560" cy="594360"/>
          </a:xfrm>
          <a:prstGeom prst="roundRect">
            <a:avLst/>
          </a:prstGeom>
          <a:solidFill>
            <a:srgbClr val="E6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011680" y="5148072"/>
            <a:ext cx="10515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69737D"/>
                </a:solidFill>
              </a:defRPr>
            </a:pPr>
            <a:r>
              <a:t>VALUE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46120" y="4983480"/>
            <a:ext cx="1051560" cy="594360"/>
          </a:xfrm>
          <a:prstGeom prst="roundRect">
            <a:avLst/>
          </a:prstGeom>
          <a:solidFill>
            <a:srgbClr val="DA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46120" y="5148072"/>
            <a:ext cx="10515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69737D"/>
                </a:solidFill>
              </a:defRPr>
            </a:pPr>
            <a:r>
              <a:t>VALUE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069080"/>
            <a:ext cx="31089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0">
                <a:solidFill>
                  <a:srgbClr val="69737D"/>
                </a:solidFill>
              </a:defRPr>
            </a:pPr>
            <a:r>
              <a:t>Actual ↓   Predicted 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35040" y="3337560"/>
            <a:ext cx="544068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3584448"/>
            <a:ext cx="1828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182741"/>
                </a:solidFill>
              </a:defRPr>
            </a:pPr>
            <a:r>
              <a:t>FINAL 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4206240"/>
            <a:ext cx="4480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000" b="1">
                <a:solidFill>
                  <a:srgbClr val="189691"/>
                </a:solidFill>
              </a:defRPr>
            </a:pPr>
            <a:r>
              <a:t>Add actual notebook results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800600"/>
            <a:ext cx="44805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69737D"/>
                </a:solidFill>
              </a:defRPr>
            </a:pPr>
            <a:r>
              <a:t>Accuracy: ____   •   Best model: ____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285232"/>
            <a:ext cx="44805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EB6F8C"/>
                </a:solidFill>
              </a:defRPr>
            </a:pPr>
            <a:r>
              <a:t>Do not invent values — use your executed model output.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9552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900" b="1">
                <a:solidFill>
                  <a:srgbClr val="FFFFFF"/>
                </a:solidFill>
              </a:defRPr>
            </a:pPr>
            <a:r>
              <a:t>10. Conclusion &amp; Future Scope</a:t>
            </a:r>
          </a:p>
        </p:txBody>
      </p:sp>
      <p:sp>
        <p:nvSpPr>
          <p:cNvPr id="5" name="Oval 4"/>
          <p:cNvSpPr/>
          <p:nvPr/>
        </p:nvSpPr>
        <p:spPr>
          <a:xfrm>
            <a:off x="4892040" y="1417320"/>
            <a:ext cx="2423160" cy="2423160"/>
          </a:xfrm>
          <a:prstGeom prst="ellipse">
            <a:avLst/>
          </a:prstGeom>
          <a:solidFill>
            <a:srgbClr val="18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892040" y="1828800"/>
            <a:ext cx="2423160" cy="1600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DATA</a:t>
            </a:r>
            <a:br/>
            <a:r>
              <a:t>→</a:t>
            </a:r>
            <a:br/>
            <a:r>
              <a:t>MODEL</a:t>
            </a:r>
            <a:br/>
            <a:r>
              <a:t>→</a:t>
            </a:r>
            <a:br/>
            <a:r>
              <a:t>INSIGHT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3474720" cy="3520440"/>
          </a:xfrm>
          <a:prstGeom prst="roundRect">
            <a:avLst/>
          </a:prstGeom>
          <a:solidFill>
            <a:srgbClr val="223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10512"/>
            <a:ext cx="2468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BEE1E1"/>
                </a:solidFill>
              </a:defRPr>
            </a:pPr>
            <a:r>
              <a:t>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2743200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3741"/>
                </a:solidFill>
              </a:defRPr>
            </a:pPr>
            <a:r>
              <a:rPr dirty="0">
                <a:solidFill>
                  <a:schemeClr val="tx2">
                    <a:lumMod val="20000"/>
                    <a:lumOff val="80000"/>
                  </a:schemeClr>
                </a:solidFill>
              </a:rPr>
              <a:t>• Complete binary classification pipeline</a:t>
            </a:r>
          </a:p>
          <a:p>
            <a:pPr>
              <a:spcAft>
                <a:spcPts val="1000"/>
              </a:spcAft>
              <a:defRPr sz="1300">
                <a:solidFill>
                  <a:srgbClr val="2D3741"/>
                </a:solidFill>
              </a:defRPr>
            </a:pPr>
            <a:r>
              <a:rPr dirty="0">
                <a:solidFill>
                  <a:schemeClr val="tx2">
                    <a:lumMod val="20000"/>
                    <a:lumOff val="80000"/>
                  </a:schemeClr>
                </a:solidFill>
              </a:rPr>
              <a:t>• Compare Logistic Regression and Random Forest</a:t>
            </a:r>
          </a:p>
          <a:p>
            <a:pPr>
              <a:spcAft>
                <a:spcPts val="1000"/>
              </a:spcAft>
              <a:defRPr sz="1300">
                <a:solidFill>
                  <a:srgbClr val="2D3741"/>
                </a:solidFill>
              </a:defRPr>
            </a:pPr>
            <a:r>
              <a:rPr dirty="0">
                <a:solidFill>
                  <a:schemeClr val="tx2">
                    <a:lumMod val="20000"/>
                    <a:lumOff val="80000"/>
                  </a:schemeClr>
                </a:solidFill>
              </a:rPr>
              <a:t>• Evaluate with multiple metrics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508760"/>
            <a:ext cx="3474720" cy="3520440"/>
          </a:xfrm>
          <a:prstGeom prst="roundRect">
            <a:avLst/>
          </a:prstGeom>
          <a:solidFill>
            <a:srgbClr val="223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75320" y="1810512"/>
            <a:ext cx="2468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1">
                <a:solidFill>
                  <a:srgbClr val="BEE1E1"/>
                </a:solidFill>
              </a:defRPr>
            </a:pPr>
            <a:r>
              <a:t>FUTURE 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329780"/>
            <a:ext cx="2743200" cy="11490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3741"/>
                </a:solidFill>
              </a:defRPr>
            </a:pPr>
            <a:r>
              <a:rPr dirty="0"/>
              <a:t>• </a:t>
            </a:r>
            <a:r>
              <a:rPr dirty="0">
                <a:solidFill>
                  <a:schemeClr val="tx2">
                    <a:lumMod val="20000"/>
                    <a:lumOff val="80000"/>
                  </a:schemeClr>
                </a:solidFill>
              </a:rPr>
              <a:t>Cross-validation + </a:t>
            </a:r>
            <a:r>
              <a:rPr dirty="0" smtClean="0">
                <a:solidFill>
                  <a:schemeClr val="tx2">
                    <a:lumMod val="20000"/>
                    <a:lumOff val="80000"/>
                  </a:schemeClr>
                </a:solidFill>
              </a:rPr>
              <a:t>hyper</a:t>
            </a:r>
            <a:r>
              <a:rPr lang="en-US" dirty="0" smtClean="0">
                <a:solidFill>
                  <a:schemeClr val="tx2">
                    <a:lumMod val="20000"/>
                    <a:lumOff val="80000"/>
                  </a:schemeClr>
                </a:solidFill>
              </a:rPr>
              <a:t> </a:t>
            </a:r>
            <a:r>
              <a:rPr dirty="0" smtClean="0">
                <a:solidFill>
                  <a:schemeClr val="tx2">
                    <a:lumMod val="20000"/>
                    <a:lumOff val="80000"/>
                  </a:schemeClr>
                </a:solidFill>
              </a:rPr>
              <a:t>parameter </a:t>
            </a:r>
            <a:r>
              <a:rPr dirty="0">
                <a:solidFill>
                  <a:schemeClr val="tx2">
                    <a:lumMod val="20000"/>
                    <a:lumOff val="80000"/>
                  </a:schemeClr>
                </a:solidFill>
              </a:rPr>
              <a:t>tuning</a:t>
            </a:r>
          </a:p>
          <a:p>
            <a:pPr>
              <a:spcAft>
                <a:spcPts val="1000"/>
              </a:spcAft>
              <a:defRPr sz="1300">
                <a:solidFill>
                  <a:srgbClr val="2D3741"/>
                </a:solidFill>
              </a:defRPr>
            </a:pPr>
            <a:r>
              <a:rPr dirty="0">
                <a:solidFill>
                  <a:schemeClr val="tx2">
                    <a:lumMod val="20000"/>
                    <a:lumOff val="80000"/>
                  </a:schemeClr>
                </a:solidFill>
              </a:rPr>
              <a:t>• Explainable AI techniques</a:t>
            </a:r>
          </a:p>
          <a:p>
            <a:pPr>
              <a:spcAft>
                <a:spcPts val="1000"/>
              </a:spcAft>
              <a:defRPr sz="1300">
                <a:solidFill>
                  <a:srgbClr val="2D3741"/>
                </a:solidFill>
              </a:defRPr>
            </a:pPr>
            <a:r>
              <a:rPr dirty="0">
                <a:solidFill>
                  <a:schemeClr val="tx2">
                    <a:lumMod val="20000"/>
                    <a:lumOff val="80000"/>
                  </a:schemeClr>
                </a:solidFill>
              </a:rPr>
              <a:t>• Compare additional algorithms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166360"/>
            <a:ext cx="3840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443</Words>
  <Application>Microsoft Office PowerPoint</Application>
  <PresentationFormat>Widescreen</PresentationFormat>
  <Paragraphs>197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Alfiya Inamdar</dc:creator>
  <cp:keywords/>
  <dc:description>generated using python-pptx</dc:description>
  <cp:lastModifiedBy>Alfiya Inamdar</cp:lastModifiedBy>
  <cp:revision>4</cp:revision>
  <dcterms:created xsi:type="dcterms:W3CDTF">2013-01-27T09:14:16Z</dcterms:created>
  <dcterms:modified xsi:type="dcterms:W3CDTF">2026-09-14T01:02:12Z</dcterms:modified>
  <cp:category/>
</cp:coreProperties>
</file>